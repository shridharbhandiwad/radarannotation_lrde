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4202D"/>
                </a:solidFill>
              </a:defRPr>
            </a:pPr>
            <a:r>
              <a:t>AI Engine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2296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05A64"/>
                </a:solidFill>
              </a:defRPr>
            </a:pPr>
            <a:r>
              <a:t>Radar trajectory tagging: Python control plane → export → C++ real-time inference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1874519" cy="1143000"/>
          </a:xfrm>
          <a:prstGeom prst="roundRect">
            <a:avLst/>
          </a:prstGeom>
          <a:solidFill>
            <a:srgbClr val="F5F8FC"/>
          </a:solidFill>
          <a:ln w="25400">
            <a:solidFill>
              <a:srgbClr val="2E7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09728" tIns="73152" wrap="square"/>
          <a:lstStyle/>
          <a:p>
            <a:pPr algn="ctr">
              <a:defRPr b="1" sz="1400">
                <a:solidFill>
                  <a:srgbClr val="14202D"/>
                </a:solidFill>
              </a:defRPr>
            </a:pPr>
            <a:r>
              <a:t>UI / Orchestration</a:t>
            </a:r>
          </a:p>
          <a:p>
            <a:pPr lvl="1">
              <a:defRPr sz="1100">
                <a:solidFill>
                  <a:srgbClr val="3C4650"/>
                </a:solidFill>
              </a:defRPr>
            </a:pPr>
            <a:r>
              <a:t>PyQt6 GUI: src/gui.py</a:t>
            </a:r>
          </a:p>
          <a:p>
            <a:pPr lvl="1">
              <a:defRPr sz="1100">
                <a:solidFill>
                  <a:srgbClr val="3C4650"/>
                </a:solidFill>
              </a:defRPr>
            </a:pPr>
            <a:r>
              <a:t>Workflow runner + status</a:t>
            </a:r>
          </a:p>
          <a:p>
            <a:pPr lvl="1">
              <a:defRPr sz="1100">
                <a:solidFill>
                  <a:srgbClr val="3C4650"/>
                </a:solidFill>
              </a:defRPr>
            </a:pPr>
            <a:r>
              <a:t>Extract → Auto-label → Train/Eval → Deploy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651760" y="1417320"/>
            <a:ext cx="1874519" cy="1143000"/>
          </a:xfrm>
          <a:prstGeom prst="roundRect">
            <a:avLst/>
          </a:prstGeom>
          <a:solidFill>
            <a:srgbClr val="F5F8FC"/>
          </a:solidFill>
          <a:ln w="25400">
            <a:solidFill>
              <a:srgbClr val="2E7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09728" tIns="73152" wrap="square"/>
          <a:lstStyle/>
          <a:p>
            <a:pPr algn="ctr">
              <a:defRPr b="1" sz="1400">
                <a:solidFill>
                  <a:srgbClr val="14202D"/>
                </a:solidFill>
              </a:defRPr>
            </a:pPr>
            <a:r>
              <a:t>Ingest</a:t>
            </a:r>
          </a:p>
          <a:p>
            <a:pPr lvl="1">
              <a:defRPr sz="1100">
                <a:solidFill>
                  <a:srgbClr val="3C4650"/>
                </a:solidFill>
              </a:defRPr>
            </a:pPr>
            <a:r>
              <a:t>Binary → DataFrame: src/data_engine.py</a:t>
            </a:r>
          </a:p>
          <a:p>
            <a:pPr lvl="1">
              <a:defRPr sz="1100">
                <a:solidFill>
                  <a:srgbClr val="3C4650"/>
                </a:solidFill>
              </a:defRPr>
            </a:pPr>
            <a:r>
              <a:t>CSV/XLSX load/save</a:t>
            </a:r>
          </a:p>
          <a:p>
            <a:pPr lvl="1">
              <a:defRPr sz="1100">
                <a:solidFill>
                  <a:srgbClr val="3C4650"/>
                </a:solidFill>
              </a:defRPr>
            </a:pPr>
            <a:r>
              <a:t>Core columns: trackid,time,x..az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79" y="1417320"/>
            <a:ext cx="1874519" cy="1143000"/>
          </a:xfrm>
          <a:prstGeom prst="roundRect">
            <a:avLst/>
          </a:prstGeom>
          <a:solidFill>
            <a:srgbClr val="F5F8FC"/>
          </a:solidFill>
          <a:ln w="25400">
            <a:solidFill>
              <a:srgbClr val="2E7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09728" tIns="73152" wrap="square"/>
          <a:lstStyle/>
          <a:p>
            <a:pPr algn="ctr">
              <a:defRPr b="1" sz="1400">
                <a:solidFill>
                  <a:srgbClr val="14202D"/>
                </a:solidFill>
              </a:defRPr>
            </a:pPr>
            <a:r>
              <a:t>Auto-label + Features</a:t>
            </a:r>
          </a:p>
          <a:p>
            <a:pPr lvl="1">
              <a:defRPr sz="1100">
                <a:solidFill>
                  <a:srgbClr val="3C4650"/>
                </a:solidFill>
              </a:defRPr>
            </a:pPr>
            <a:r>
              <a:t>src/autolabel_engine.py</a:t>
            </a:r>
          </a:p>
          <a:p>
            <a:pPr lvl="1">
              <a:defRPr sz="1100">
                <a:solidFill>
                  <a:srgbClr val="3C4650"/>
                </a:solidFill>
              </a:defRPr>
            </a:pPr>
            <a:r>
              <a:t>motion features + rules</a:t>
            </a:r>
          </a:p>
          <a:p>
            <a:pPr lvl="1">
              <a:defRPr sz="1100">
                <a:solidFill>
                  <a:srgbClr val="3C4650"/>
                </a:solidFill>
              </a:defRPr>
            </a:pPr>
            <a:r>
              <a:t>Outputs: Annotation + valid_features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7999" y="1417320"/>
            <a:ext cx="1874519" cy="1143000"/>
          </a:xfrm>
          <a:prstGeom prst="roundRect">
            <a:avLst/>
          </a:prstGeom>
          <a:solidFill>
            <a:srgbClr val="F5F8FC"/>
          </a:solidFill>
          <a:ln w="25400">
            <a:solidFill>
              <a:srgbClr val="2E7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09728" tIns="73152" wrap="square"/>
          <a:lstStyle/>
          <a:p>
            <a:pPr algn="ctr">
              <a:defRPr b="1" sz="1400">
                <a:solidFill>
                  <a:srgbClr val="14202D"/>
                </a:solidFill>
              </a:defRPr>
            </a:pPr>
            <a:r>
              <a:t>Label Transform</a:t>
            </a:r>
          </a:p>
          <a:p>
            <a:pPr lvl="1">
              <a:defRPr sz="1100">
                <a:solidFill>
                  <a:srgbClr val="3C4650"/>
                </a:solidFill>
              </a:defRPr>
            </a:pPr>
            <a:r>
              <a:t>src/label_transformer.py</a:t>
            </a:r>
          </a:p>
          <a:p>
            <a:pPr lvl="1">
              <a:defRPr sz="1100">
                <a:solidFill>
                  <a:srgbClr val="3C4650"/>
                </a:solidFill>
              </a:defRPr>
            </a:pPr>
            <a:r>
              <a:t>Composite tags → multi-label</a:t>
            </a:r>
          </a:p>
          <a:p>
            <a:pPr lvl="1">
              <a:defRPr sz="1100">
                <a:solidFill>
                  <a:srgbClr val="3C4650"/>
                </a:solidFill>
              </a:defRPr>
            </a:pPr>
            <a:r>
              <a:t>or primary label (single-output)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1119" y="1417320"/>
            <a:ext cx="1874519" cy="1143000"/>
          </a:xfrm>
          <a:prstGeom prst="roundRect">
            <a:avLst/>
          </a:prstGeom>
          <a:solidFill>
            <a:srgbClr val="F5F8FC"/>
          </a:solidFill>
          <a:ln w="25400">
            <a:solidFill>
              <a:srgbClr val="2E7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09728" tIns="73152" wrap="square"/>
          <a:lstStyle/>
          <a:p>
            <a:pPr algn="ctr">
              <a:defRPr b="1" sz="1400">
                <a:solidFill>
                  <a:srgbClr val="14202D"/>
                </a:solidFill>
              </a:defRPr>
            </a:pPr>
            <a:r>
              <a:t>Train / Evaluate</a:t>
            </a:r>
          </a:p>
          <a:p>
            <a:pPr lvl="1">
              <a:defRPr sz="1100">
                <a:solidFill>
                  <a:srgbClr val="3C4650"/>
                </a:solidFill>
              </a:defRPr>
            </a:pPr>
            <a:r>
              <a:t>src/ai_engine.py</a:t>
            </a:r>
          </a:p>
          <a:p>
            <a:pPr lvl="1">
              <a:defRPr sz="1100">
                <a:solidFill>
                  <a:srgbClr val="3C4650"/>
                </a:solidFill>
              </a:defRPr>
            </a:pPr>
            <a:r>
              <a:t>XGBoost/RF + LSTM/Transformer</a:t>
            </a:r>
          </a:p>
          <a:p>
            <a:pPr lvl="1">
              <a:defRPr sz="1100">
                <a:solidFill>
                  <a:srgbClr val="3C4650"/>
                </a:solidFill>
              </a:defRPr>
            </a:pPr>
            <a:r>
              <a:t>Model + metrics + metadata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436876" y="1888236"/>
            <a:ext cx="201168" cy="201168"/>
          </a:xfrm>
          <a:prstGeom prst="rightArrow">
            <a:avLst/>
          </a:prstGeom>
          <a:solidFill>
            <a:srgbClr val="78828C"/>
          </a:solidFill>
          <a:ln>
            <a:solidFill>
              <a:srgbClr val="7882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ight Arrow 9"/>
          <p:cNvSpPr/>
          <p:nvPr/>
        </p:nvSpPr>
        <p:spPr>
          <a:xfrm>
            <a:off x="4539995" y="1888236"/>
            <a:ext cx="201168" cy="201168"/>
          </a:xfrm>
          <a:prstGeom prst="rightArrow">
            <a:avLst/>
          </a:prstGeom>
          <a:solidFill>
            <a:srgbClr val="78828C"/>
          </a:solidFill>
          <a:ln>
            <a:solidFill>
              <a:srgbClr val="7882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ight Arrow 10"/>
          <p:cNvSpPr/>
          <p:nvPr/>
        </p:nvSpPr>
        <p:spPr>
          <a:xfrm>
            <a:off x="6643115" y="1888236"/>
            <a:ext cx="201168" cy="201168"/>
          </a:xfrm>
          <a:prstGeom prst="rightArrow">
            <a:avLst/>
          </a:prstGeom>
          <a:solidFill>
            <a:srgbClr val="78828C"/>
          </a:solidFill>
          <a:ln>
            <a:solidFill>
              <a:srgbClr val="7882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ight Arrow 11"/>
          <p:cNvSpPr/>
          <p:nvPr/>
        </p:nvSpPr>
        <p:spPr>
          <a:xfrm>
            <a:off x="8746236" y="1888236"/>
            <a:ext cx="201168" cy="201168"/>
          </a:xfrm>
          <a:prstGeom prst="rightArrow">
            <a:avLst/>
          </a:prstGeom>
          <a:solidFill>
            <a:srgbClr val="78828C"/>
          </a:solidFill>
          <a:ln>
            <a:solidFill>
              <a:srgbClr val="7882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8640" y="3063240"/>
            <a:ext cx="2971800" cy="1463040"/>
          </a:xfrm>
          <a:prstGeom prst="roundRect">
            <a:avLst/>
          </a:prstGeom>
          <a:solidFill>
            <a:srgbClr val="F5F8FC"/>
          </a:solidFill>
          <a:ln w="25400">
            <a:solidFill>
              <a:srgbClr val="2E7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09728" tIns="73152" wrap="square"/>
          <a:lstStyle/>
          <a:p>
            <a:pPr algn="ctr">
              <a:defRPr b="1" sz="1400">
                <a:solidFill>
                  <a:srgbClr val="14202D"/>
                </a:solidFill>
              </a:defRPr>
            </a:pPr>
            <a:r>
              <a:t>Export for Deployment</a:t>
            </a:r>
          </a:p>
          <a:p>
            <a:pPr lvl="1">
              <a:defRPr sz="1100">
                <a:solidFill>
                  <a:srgbClr val="3C4650"/>
                </a:solidFill>
              </a:defRPr>
            </a:pPr>
            <a:r>
              <a:t>NN: convert_model_to_tflite.py → *.tflite</a:t>
            </a:r>
          </a:p>
          <a:p>
            <a:pPr lvl="1">
              <a:defRPr sz="1100">
                <a:solidFill>
                  <a:srgbClr val="3C4650"/>
                </a:solidFill>
              </a:defRPr>
            </a:pPr>
            <a:r>
              <a:t>Trees: export_models_to_onnx.py → *.onnx</a:t>
            </a:r>
          </a:p>
          <a:p>
            <a:pPr lvl="1">
              <a:defRPr sz="1100">
                <a:solidFill>
                  <a:srgbClr val="3C4650"/>
                </a:solidFill>
              </a:defRPr>
            </a:pPr>
            <a:r>
              <a:t>model_metadata.json (features/scaler/classes)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794760" y="3063240"/>
            <a:ext cx="3429000" cy="1463040"/>
          </a:xfrm>
          <a:prstGeom prst="roundRect">
            <a:avLst/>
          </a:prstGeom>
          <a:solidFill>
            <a:srgbClr val="FAF6F0"/>
          </a:solidFill>
          <a:ln w="25400">
            <a:solidFill>
              <a:srgbClr val="E68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09728" tIns="73152" wrap="square"/>
          <a:lstStyle/>
          <a:p>
            <a:pPr algn="ctr">
              <a:defRPr b="1" sz="1400">
                <a:solidFill>
                  <a:srgbClr val="14202D"/>
                </a:solidFill>
              </a:defRPr>
            </a:pPr>
            <a:r>
              <a:t>C++ Inference Runtime</a:t>
            </a:r>
          </a:p>
          <a:p>
            <a:pPr lvl="1">
              <a:defRPr sz="1100">
                <a:solidFill>
                  <a:srgbClr val="3C4650"/>
                </a:solidFill>
              </a:defRPr>
            </a:pPr>
            <a:r>
              <a:t>cpp_inference/radar_tagger_multioutput</a:t>
            </a:r>
          </a:p>
          <a:p>
            <a:pPr lvl="1">
              <a:defRPr sz="1100">
                <a:solidFill>
                  <a:srgbClr val="3C4650"/>
                </a:solidFill>
              </a:defRPr>
            </a:pPr>
            <a:r>
              <a:t>Backends: TFLite + ONNX Runtime</a:t>
            </a:r>
          </a:p>
          <a:p>
            <a:pPr lvl="1">
              <a:defRPr sz="1100">
                <a:solidFill>
                  <a:srgbClr val="3C4650"/>
                </a:solidFill>
              </a:defRPr>
            </a:pPr>
            <a:r>
              <a:t>Outputs: 11 tags + label + perf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52360" y="3063240"/>
            <a:ext cx="4160520" cy="1463040"/>
          </a:xfrm>
          <a:prstGeom prst="roundRect">
            <a:avLst/>
          </a:prstGeom>
          <a:solidFill>
            <a:srgbClr val="F1FAF6"/>
          </a:solidFill>
          <a:ln w="25400">
            <a:solidFill>
              <a:srgbClr val="1EA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09728" tIns="73152" wrap="square"/>
          <a:lstStyle/>
          <a:p>
            <a:pPr algn="ctr">
              <a:defRPr b="1" sz="1400">
                <a:solidFill>
                  <a:srgbClr val="14202D"/>
                </a:solidFill>
              </a:defRPr>
            </a:pPr>
            <a:r>
              <a:t>Outputs / Integration</a:t>
            </a:r>
          </a:p>
          <a:p>
            <a:pPr lvl="1">
              <a:defRPr sz="1100">
                <a:solidFill>
                  <a:srgbClr val="3C4650"/>
                </a:solidFill>
              </a:defRPr>
            </a:pPr>
            <a:r>
              <a:t>Predictions + confidences</a:t>
            </a:r>
          </a:p>
          <a:p>
            <a:pPr lvl="1">
              <a:defRPr sz="1100">
                <a:solidFill>
                  <a:srgbClr val="3C4650"/>
                </a:solidFill>
              </a:defRPr>
            </a:pPr>
            <a:r>
              <a:t>Latency / throughput metrics</a:t>
            </a:r>
          </a:p>
          <a:p>
            <a:pPr lvl="1">
              <a:defRPr sz="1100">
                <a:solidFill>
                  <a:srgbClr val="3C4650"/>
                </a:solidFill>
              </a:defRPr>
            </a:pPr>
            <a:r>
              <a:t>Batch eval (CSV/binary) or real-time loop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9788652" y="2743200"/>
            <a:ext cx="219456" cy="320040"/>
          </a:xfrm>
          <a:prstGeom prst="downArrow">
            <a:avLst/>
          </a:prstGeom>
          <a:solidFill>
            <a:srgbClr val="78828C"/>
          </a:solidFill>
          <a:ln>
            <a:solidFill>
              <a:srgbClr val="7882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ight Arrow 16"/>
          <p:cNvSpPr/>
          <p:nvPr/>
        </p:nvSpPr>
        <p:spPr>
          <a:xfrm>
            <a:off x="3520440" y="3749039"/>
            <a:ext cx="228600" cy="228600"/>
          </a:xfrm>
          <a:prstGeom prst="rightArrow">
            <a:avLst/>
          </a:prstGeom>
          <a:solidFill>
            <a:srgbClr val="78828C"/>
          </a:solidFill>
          <a:ln>
            <a:solidFill>
              <a:srgbClr val="7882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ight Arrow 17"/>
          <p:cNvSpPr/>
          <p:nvPr/>
        </p:nvSpPr>
        <p:spPr>
          <a:xfrm>
            <a:off x="7269480" y="3749039"/>
            <a:ext cx="228600" cy="228600"/>
          </a:xfrm>
          <a:prstGeom prst="rightArrow">
            <a:avLst/>
          </a:prstGeom>
          <a:solidFill>
            <a:srgbClr val="78828C"/>
          </a:solidFill>
          <a:ln>
            <a:solidFill>
              <a:srgbClr val="7882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4800600"/>
            <a:ext cx="116128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37160"/>
          <a:lstStyle/>
          <a:p>
            <a:pPr algn="ctr">
              <a:defRPr b="1" sz="1400">
                <a:solidFill>
                  <a:srgbClr val="14202D"/>
                </a:solidFill>
              </a:defRPr>
            </a:pPr>
            <a:r>
              <a:t>Key points</a:t>
            </a:r>
          </a:p>
          <a:p>
            <a:pPr lvl="1">
              <a:defRPr sz="1200">
                <a:solidFill>
                  <a:srgbClr val="3C4650"/>
                </a:solidFill>
              </a:defRPr>
            </a:pPr>
            <a:r>
              <a:t>Python is the control plane (GUI orchestrates ingestion, labeling, training, export).</a:t>
            </a:r>
          </a:p>
          <a:p>
            <a:pPr lvl="1">
              <a:defRPr sz="1200">
                <a:solidFill>
                  <a:srgbClr val="3C4650"/>
                </a:solidFill>
              </a:defRPr>
            </a:pPr>
            <a:r>
              <a:t>Model predicts 11 binary tags; aggregated composite label is derived from tags.</a:t>
            </a:r>
          </a:p>
          <a:p>
            <a:pPr lvl="1">
              <a:defRPr sz="1200">
                <a:solidFill>
                  <a:srgbClr val="3C4650"/>
                </a:solidFill>
              </a:defRPr>
            </a:pPr>
            <a:r>
              <a:t>Deployment artifacts are portable: model file (TFLite/ONNX) + model_metadata.json.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